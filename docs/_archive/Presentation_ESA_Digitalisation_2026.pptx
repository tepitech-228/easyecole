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228600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256032" cy="22860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256032" cy="2286000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11696"/>
            <a:ext cx="4063898" cy="146304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6" name="Shape 4"/>
          <p:cNvSpPr/>
          <p:nvPr/>
        </p:nvSpPr>
        <p:spPr>
          <a:xfrm>
            <a:off x="4063898" y="6711696"/>
            <a:ext cx="4063898" cy="14630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7" name="Shape 5"/>
          <p:cNvSpPr/>
          <p:nvPr/>
        </p:nvSpPr>
        <p:spPr>
          <a:xfrm>
            <a:off x="8127797" y="6711696"/>
            <a:ext cx="4063898" cy="146304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64008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0F7A4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6400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 ÉCOLE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de Digitalisation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Processus Métiers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2194560" cy="6400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Modernisation &amp; Digitalisation — ERP intégré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août 2026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Comité de Pilotage — Lancement officiel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31036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14356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384048" cy="384048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9796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33272" y="20025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Objectifs du projet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551176"/>
            <a:ext cx="384048" cy="384048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64892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25694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Présentation du projet (Périmètre fonctionnel, Architecture globale, Cahier des charges)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384048" cy="384048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31820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3272" y="31363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Prérequis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685032"/>
            <a:ext cx="384048" cy="384048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98748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Livrables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417320"/>
            <a:ext cx="384048" cy="384048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431036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14356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1984248"/>
            <a:ext cx="384048" cy="384048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99796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39712" y="20025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2551176"/>
            <a:ext cx="384048" cy="384048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564892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9712" y="25694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Méthodologie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3118104"/>
            <a:ext cx="384048" cy="384048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131820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39712" y="31363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Facteurs clés de succès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3685032"/>
            <a:ext cx="384048" cy="384048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698748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39712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souhaite moderniser l'ensemble de ses processus afin de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7F2EB"/>
          </a:solidFill>
          <a:ln w="12700">
            <a:solidFill>
              <a:srgbClr val="0F7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03120"/>
            <a:ext cx="82296" cy="91440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Améliorer la qualité des services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7F2EB"/>
          </a:solidFill>
          <a:ln w="12700">
            <a:solidFill>
              <a:srgbClr val="0F7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246120"/>
            <a:ext cx="82296" cy="91440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Réduire les délais de traitement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389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7F2EB"/>
          </a:solidFill>
          <a:ln w="12700">
            <a:solidFill>
              <a:srgbClr val="0F7A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389120"/>
            <a:ext cx="82296" cy="91440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89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Dématérialiser les procédures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55080" y="2103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7F2EB"/>
          </a:solidFill>
          <a:ln w="12700">
            <a:solidFill>
              <a:srgbClr val="0F7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103120"/>
            <a:ext cx="82296" cy="91440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103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Sécuriser les données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55080" y="3246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7F2EB"/>
          </a:solidFill>
          <a:ln w="12700">
            <a:solidFill>
              <a:srgbClr val="0F7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246120"/>
            <a:ext cx="82296" cy="91440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246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Améliorer la gouvernance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55080" y="4389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7F2EB"/>
          </a:solidFill>
          <a:ln w="12700">
            <a:solidFill>
              <a:srgbClr val="0F7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389120"/>
            <a:ext cx="82296" cy="91440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389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Disposer d'indicateurs de pilotage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Objectifs du projet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projet vise notamment à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50008"/>
            <a:ext cx="420624" cy="420624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103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Digitaliser les processus académiques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246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Digitaliser les processus administratifs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4389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636008"/>
            <a:ext cx="420624" cy="420624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36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4389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Automatiser les workflows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55080" y="2103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350008"/>
            <a:ext cx="420624" cy="420624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2103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Sécuriser les échanges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55080" y="3246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493008"/>
            <a:ext cx="420624" cy="420624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493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78040" y="3246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Améliorer le suivi des étudiants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355080" y="43891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636008"/>
            <a:ext cx="420624" cy="420624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636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4389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Disposer d'un ERP intégré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Périmètre global — deux grandes composantes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92024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Processus Académiques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 &amp; Inscription · Gestion académique · E-Learning · Reporting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2011680"/>
            <a:ext cx="0" cy="2377440"/>
          </a:xfrm>
          <a:prstGeom prst="line">
            <a:avLst/>
          </a:prstGeom>
          <a:noFill/>
          <a:ln w="19050">
            <a:solidFill>
              <a:srgbClr val="D9D6C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641848" y="3017520"/>
            <a:ext cx="411480" cy="41148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4" name="Text 12"/>
          <p:cNvSpPr/>
          <p:nvPr/>
        </p:nvSpPr>
        <p:spPr>
          <a:xfrm>
            <a:off x="5641848" y="303580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192024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C81E2C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9202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— Gestion Administrative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20840" y="30632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 · Paie · Achats · Stocks · Immobilisations · Comptabilité · Budget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5840" y="4846320"/>
            <a:ext cx="10149840" cy="731520"/>
          </a:xfrm>
          <a:prstGeom prst="roundRect">
            <a:avLst>
              <a:gd name="adj" fmla="val 12500"/>
            </a:avLst>
          </a:prstGeom>
          <a:solidFill>
            <a:srgbClr val="FBFAF6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846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plateforme unique « ESA ÉCOLE » pour l'ensemble des processus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Axe 1 — Admission &amp; Inscription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Processus d'admission — de l'orientation à la vie estudiantine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952848" y="2148840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2848" y="21488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6120" y="2642616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15" name="Shape 13"/>
          <p:cNvSpPr/>
          <p:nvPr/>
        </p:nvSpPr>
        <p:spPr>
          <a:xfrm>
            <a:off x="4952848" y="2752344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2848" y="275234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Préinscription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6120" y="3246120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2848" y="3355848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2848" y="33558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6120" y="3849624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1" name="Shape 19"/>
          <p:cNvSpPr/>
          <p:nvPr/>
        </p:nvSpPr>
        <p:spPr>
          <a:xfrm>
            <a:off x="4952848" y="3959352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2848" y="39593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6120" y="4453128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52848" y="4562856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2848" y="45628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Inscription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86120" y="5056632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7" name="Shape 25"/>
          <p:cNvSpPr/>
          <p:nvPr/>
        </p:nvSpPr>
        <p:spPr>
          <a:xfrm>
            <a:off x="4952848" y="5166360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2848" y="51663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86120" y="5660136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30" name="Shape 28"/>
          <p:cNvSpPr/>
          <p:nvPr/>
        </p:nvSpPr>
        <p:spPr>
          <a:xfrm>
            <a:off x="4952848" y="5769864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2848" y="576986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 Estudiantine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Axe 2 — Gestion académique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parcours académique entièrement dématérialisé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Cursus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3756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Emploi du temps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0684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Présences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Cahier de texte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3756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Relevés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0684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Diplômes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Axe 3 — E-Learning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pédagogique en ligne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95648" y="210312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0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4495648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pédagogique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95264" y="2697480"/>
            <a:ext cx="201168" cy="274320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15" name="Shape 13"/>
          <p:cNvSpPr/>
          <p:nvPr/>
        </p:nvSpPr>
        <p:spPr>
          <a:xfrm>
            <a:off x="4952848" y="301752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2848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86120" y="3538728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2848" y="3666744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2848" y="36667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Vidéos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86120" y="4187952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1" name="Shape 19"/>
          <p:cNvSpPr/>
          <p:nvPr/>
        </p:nvSpPr>
        <p:spPr>
          <a:xfrm>
            <a:off x="4952848" y="4315968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2848" y="4315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virtuelles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86120" y="4837176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52848" y="4965192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2848" y="4965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86120" y="5486400"/>
            <a:ext cx="219456" cy="164592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7" name="Shape 25"/>
          <p:cNvSpPr/>
          <p:nvPr/>
        </p:nvSpPr>
        <p:spPr>
          <a:xfrm>
            <a:off x="4952848" y="561441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2848" y="56144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Axe 4 — Administration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administrative et financière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3756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Achats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0684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Immobilisations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3756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Comptabilité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Axe 5 — Reporting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Piloter l'établissement avec des indicateurs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1EF"/>
          </a:solidFill>
          <a:ln w="15240">
            <a:solidFill>
              <a:srgbClr val="626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86000"/>
            <a:ext cx="3566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Tableaux de bord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2286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1EF"/>
          </a:solidFill>
          <a:ln w="15240">
            <a:solidFill>
              <a:srgbClr val="6266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286000"/>
            <a:ext cx="3566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Rapports RH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75320" y="2286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1EF"/>
          </a:solidFill>
          <a:ln w="15240">
            <a:solidFill>
              <a:srgbClr val="6266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286000"/>
            <a:ext cx="3566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Rapports Académiques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023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1EF"/>
          </a:solidFill>
          <a:ln w="15240">
            <a:solidFill>
              <a:srgbClr val="6266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023360"/>
            <a:ext cx="3566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23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Rapports Financiers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89120" y="4023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1EF"/>
          </a:solidFill>
          <a:ln w="15240">
            <a:solidFill>
              <a:srgbClr val="6266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4023360"/>
            <a:ext cx="3566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4023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Statistiques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75320" y="4023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1F1EF"/>
          </a:solidFill>
          <a:ln w="15240">
            <a:solidFill>
              <a:srgbClr val="6266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4023360"/>
            <a:ext cx="356616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4023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utilisateurs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1828800"/>
            <a:ext cx="1005840" cy="10058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90195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Étudiants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297180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Étudiants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1005840" cy="1005840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90195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Enseignants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0" y="297180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Enseignants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1828800"/>
            <a:ext cx="1005840" cy="1005840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90195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Scolarité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297180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Scolarité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21240" y="1828800"/>
            <a:ext cx="1005840" cy="10058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190195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Comité d'équivalence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09760" y="297180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Comité d'équivalence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417320" y="3840480"/>
            <a:ext cx="1005840" cy="1005840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391363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Comptabilité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05840" y="498348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Comptabilité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51960" y="3840480"/>
            <a:ext cx="1005840" cy="1005840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391363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840480" y="498348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86600" y="3840480"/>
            <a:ext cx="1005840" cy="10058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391363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675120" y="498348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21240" y="3840480"/>
            <a:ext cx="1005840" cy="1005840"/>
          </a:xfrm>
          <a:prstGeom prst="ellipse">
            <a:avLst/>
          </a:prstGeom>
          <a:solidFill>
            <a:srgbClr val="12181D"/>
          </a:solidFill>
          <a:ln/>
        </p:spPr>
      </p:sp>
      <p:sp>
        <p:nvSpPr>
          <p:cNvPr id="38" name="Text 36"/>
          <p:cNvSpPr/>
          <p:nvPr/>
        </p:nvSpPr>
        <p:spPr>
          <a:xfrm>
            <a:off x="9921240" y="3913632"/>
            <a:ext cx="1005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Administrateur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509760" y="4983480"/>
            <a:ext cx="1828800" cy="4572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0" name="Text 38"/>
          <p:cNvSpPr/>
          <p:nvPr/>
        </p:nvSpPr>
        <p:spPr>
          <a:xfrm>
            <a:off x="900684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Administrateur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— Modules concernés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ERP couvrant l'ensemble de la gestion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86000"/>
            <a:ext cx="251460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3756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286000"/>
            <a:ext cx="251460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286000"/>
            <a:ext cx="251460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Immobilisations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0684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286000"/>
            <a:ext cx="251460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023360"/>
            <a:ext cx="251460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Caisse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3756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4023360"/>
            <a:ext cx="251460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Comptabilité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7220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12700">
            <a:solidFill>
              <a:srgbClr val="12181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023360"/>
            <a:ext cx="2514600" cy="8229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Marchés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globale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15688" y="13716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4815688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ÉTUDIANTS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48" y="1874520"/>
            <a:ext cx="0" cy="320040"/>
          </a:xfrm>
          <a:prstGeom prst="line">
            <a:avLst/>
          </a:prstGeom>
          <a:noFill/>
          <a:ln w="19050">
            <a:solidFill>
              <a:srgbClr val="626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09848" y="219456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07402A"/>
          </a:solidFill>
          <a:ln/>
        </p:spPr>
      </p:sp>
      <p:sp>
        <p:nvSpPr>
          <p:cNvPr id="13" name="Text 11"/>
          <p:cNvSpPr/>
          <p:nvPr/>
        </p:nvSpPr>
        <p:spPr>
          <a:xfrm>
            <a:off x="3809848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PLATEFORME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48" y="2743200"/>
            <a:ext cx="0" cy="274320"/>
          </a:xfrm>
          <a:prstGeom prst="line">
            <a:avLst/>
          </a:prstGeom>
          <a:noFill/>
          <a:ln w="19050">
            <a:solidFill>
              <a:srgbClr val="6266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017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0F7A4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E-Learning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848" y="3017520"/>
            <a:ext cx="-3535528" cy="0"/>
          </a:xfrm>
          <a:prstGeom prst="line">
            <a:avLst/>
          </a:prstGeom>
          <a:noFill/>
          <a:ln w="19050">
            <a:solidFill>
              <a:srgbClr val="D9D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17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C81E2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08960" y="3017520"/>
            <a:ext cx="3291840" cy="0"/>
          </a:xfrm>
          <a:prstGeom prst="line">
            <a:avLst/>
          </a:prstGeom>
          <a:noFill/>
          <a:ln w="19050">
            <a:solidFill>
              <a:srgbClr val="D9D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3017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0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017520"/>
            <a:ext cx="2499512" cy="0"/>
          </a:xfrm>
          <a:prstGeom prst="line">
            <a:avLst/>
          </a:prstGeom>
          <a:noFill/>
          <a:ln w="19050">
            <a:solidFill>
              <a:srgbClr val="D9D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05656" y="3520440"/>
            <a:ext cx="201168" cy="228600"/>
          </a:xfrm>
          <a:prstGeom prst="downArrow">
            <a:avLst/>
          </a:prstGeom>
          <a:solidFill>
            <a:srgbClr val="C81E2C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37490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C81E2C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374904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 · Paie · Comptabilité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Stocks · Immobilisations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Caisse · Marchés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95848" y="4800600"/>
            <a:ext cx="0" cy="320040"/>
          </a:xfrm>
          <a:prstGeom prst="line">
            <a:avLst/>
          </a:prstGeom>
          <a:noFill/>
          <a:ln w="19050">
            <a:solidFill>
              <a:srgbClr val="6266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67048" y="512064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C72C"/>
          </a:solidFill>
          <a:ln/>
        </p:spPr>
      </p:sp>
      <p:sp>
        <p:nvSpPr>
          <p:cNvPr id="29" name="Text 27"/>
          <p:cNvSpPr/>
          <p:nvPr/>
        </p:nvSpPr>
        <p:spPr>
          <a:xfrm>
            <a:off x="4267048" y="5120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95848" y="5623560"/>
            <a:ext cx="0" cy="274320"/>
          </a:xfrm>
          <a:prstGeom prst="line">
            <a:avLst/>
          </a:prstGeom>
          <a:noFill/>
          <a:ln w="19050">
            <a:solidFill>
              <a:srgbClr val="6266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18408" y="58978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62666B"/>
          </a:solidFill>
          <a:ln/>
        </p:spPr>
      </p:sp>
      <p:sp>
        <p:nvSpPr>
          <p:cNvPr id="32" name="Text 30"/>
          <p:cNvSpPr/>
          <p:nvPr/>
        </p:nvSpPr>
        <p:spPr>
          <a:xfrm>
            <a:off x="3718408" y="5897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Sauvegarde · Sécurité · API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Prérequis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et informations nécessaires au démarrage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8600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Organigramme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33756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28600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Procédures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28600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Listes étudiants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00684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28600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22860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Enseignants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02336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Filières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333756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402336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Maquettes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17220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402336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Référentiels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00684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D9D6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0" y="4023360"/>
            <a:ext cx="2514600" cy="8229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5" name="Text 33"/>
          <p:cNvSpPr/>
          <p:nvPr/>
        </p:nvSpPr>
        <p:spPr>
          <a:xfrm>
            <a:off x="900684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Droits utilisateurs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le projet livrera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Paramétrage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0684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55480" y="22860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023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3756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86200" y="4023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Recette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4023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production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06840" y="40233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7F2EB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55480" y="4023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Méthodologie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984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29844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 de vie du projet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574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07568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62656" y="2624328"/>
            <a:ext cx="201168" cy="182880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807208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740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0720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82549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62656" y="3374136"/>
            <a:ext cx="201168" cy="182880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557016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5701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57530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62656" y="4123944"/>
            <a:ext cx="201168" cy="182880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306824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7402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0682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32511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205740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F7A45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20574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Recette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207568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06256" y="2624328"/>
            <a:ext cx="201168" cy="182880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46520" y="2807208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7402A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80720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282549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06256" y="3374136"/>
            <a:ext cx="201168" cy="182880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3557016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F7A45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55701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357530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06256" y="4123944"/>
            <a:ext cx="201168" cy="182880"/>
          </a:xfrm>
          <a:prstGeom prst="downArrow">
            <a:avLst/>
          </a:prstGeom>
          <a:solidFill>
            <a:srgbClr val="0F7A45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6520" y="4306824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7402A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430682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Assistance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0" y="432511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Gouvernance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90008" y="13716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2181D"/>
          </a:solidFill>
          <a:ln/>
        </p:spPr>
      </p:sp>
      <p:sp>
        <p:nvSpPr>
          <p:cNvPr id="10" name="Text 8"/>
          <p:cNvSpPr/>
          <p:nvPr/>
        </p:nvSpPr>
        <p:spPr>
          <a:xfrm>
            <a:off x="5090008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48" y="1874520"/>
            <a:ext cx="0" cy="320040"/>
          </a:xfrm>
          <a:prstGeom prst="line">
            <a:avLst/>
          </a:prstGeom>
          <a:noFill/>
          <a:ln w="19050">
            <a:solidFill>
              <a:srgbClr val="626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63928" y="219456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0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2163928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Chef de Projet Client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70168" y="219456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0F7A45"/>
          </a:solidFill>
          <a:ln/>
        </p:spPr>
      </p:sp>
      <p:sp>
        <p:nvSpPr>
          <p:cNvPr id="15" name="Text 13"/>
          <p:cNvSpPr/>
          <p:nvPr/>
        </p:nvSpPr>
        <p:spPr>
          <a:xfrm>
            <a:off x="6370168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Chef de Projet CAGECFI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5848" y="2194560"/>
            <a:ext cx="0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2697480"/>
            <a:ext cx="0" cy="320040"/>
          </a:xfrm>
          <a:prstGeom prst="line">
            <a:avLst/>
          </a:prstGeom>
          <a:noFill/>
          <a:ln w="19050">
            <a:solidFill>
              <a:srgbClr val="6266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0008" y="30175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C72C"/>
          </a:solidFill>
          <a:ln/>
        </p:spPr>
      </p:sp>
      <p:sp>
        <p:nvSpPr>
          <p:cNvPr id="19" name="Text 17"/>
          <p:cNvSpPr/>
          <p:nvPr/>
        </p:nvSpPr>
        <p:spPr>
          <a:xfrm>
            <a:off x="5090008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COPRO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5848" y="3520440"/>
            <a:ext cx="0" cy="320040"/>
          </a:xfrm>
          <a:prstGeom prst="line">
            <a:avLst/>
          </a:prstGeom>
          <a:noFill/>
          <a:ln w="19050">
            <a:solidFill>
              <a:srgbClr val="6266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8404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" y="3840480"/>
            <a:ext cx="1737360" cy="64008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2377440" y="38404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Métier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3840480"/>
            <a:ext cx="1737360" cy="6400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7" name="Shape 25"/>
          <p:cNvSpPr/>
          <p:nvPr/>
        </p:nvSpPr>
        <p:spPr>
          <a:xfrm>
            <a:off x="4325112" y="38404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25112" y="3840480"/>
            <a:ext cx="1737360" cy="64008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0" name="Shape 28"/>
          <p:cNvSpPr/>
          <p:nvPr/>
        </p:nvSpPr>
        <p:spPr>
          <a:xfrm>
            <a:off x="6272784" y="38404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72784" y="3840480"/>
            <a:ext cx="1737360" cy="6400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0456" y="38404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0456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Recette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0456" y="3840480"/>
            <a:ext cx="1737360" cy="64008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8128" y="38404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68128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168128" y="3840480"/>
            <a:ext cx="1737360" cy="6400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5848" y="3840480"/>
            <a:ext cx="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02920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 : Comité de Pilotage · COPRO : Comité de Projet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Responsabilités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54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Fournir les données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Valider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Participer aux ateliers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Tester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Former les utilisateurs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C81E2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554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PRESTATAIRE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Paramétrer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Développer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Former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Déployer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Assister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Calendrier prévisionnel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81248" y="237744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3581248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Référence fichiers Plannings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planning détaillé (jalons, phases, ressources) est fourni dans les fichiers dédiés au projet.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011680" y="45720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BFAF6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Phases : Analyse → Conception → Développement → Recette → Formation → Déploiement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Facteurs clés de succès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993392"/>
            <a:ext cx="777240" cy="7772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Disponibilité des équipes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993392"/>
            <a:ext cx="777240" cy="7772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rapide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993392"/>
            <a:ext cx="777240" cy="7772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06840" y="18288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1993392"/>
            <a:ext cx="777240" cy="7772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9933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2834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des délais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822192"/>
            <a:ext cx="777240" cy="7772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8221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Qualité des données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36576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3822192"/>
            <a:ext cx="777240" cy="7772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38221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74720" y="4663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Conduite du changement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36576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822192"/>
            <a:ext cx="777240" cy="77724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38221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09360" y="4663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Retard de validation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Retard de fourniture des données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75320" y="20116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5256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Disponibilité des utilisateurs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Évolution du besoin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6636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Connexion Internet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75320" y="38404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5240">
            <a:solidFill>
              <a:srgbClr val="C81E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E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05256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des données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18872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1887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18872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4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Décisions attendues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85855" cy="0"/>
          </a:xfrm>
          <a:prstGeom prst="line">
            <a:avLst/>
          </a:prstGeom>
          <a:noFill/>
          <a:ln w="1524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105914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Validations requises pour le lancement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194560"/>
            <a:ext cx="82296" cy="86868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94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Validation du périmètre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2194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194560"/>
            <a:ext cx="82296" cy="86868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194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Validation du planning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37560"/>
            <a:ext cx="82296" cy="86868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37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Validation des prérequis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5508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337560"/>
            <a:ext cx="82296" cy="86868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337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Validation des livrables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480560"/>
            <a:ext cx="82296" cy="86868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Validation du COPIL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355080" y="4480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480560"/>
            <a:ext cx="82296" cy="86868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Validation du COPRO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5623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15240">
            <a:solidFill>
              <a:srgbClr val="0F7A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623560"/>
            <a:ext cx="82296" cy="868680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623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Lancement officiel du projet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355080" y="5623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6D9"/>
          </a:solidFill>
          <a:ln w="15240">
            <a:solidFill>
              <a:srgbClr val="FFC7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5623560"/>
            <a:ext cx="82296" cy="86868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5623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 Lancement officiel du projet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28016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0F7A45"/>
          </a:solidFill>
          <a:ln/>
        </p:spPr>
      </p:sp>
      <p:sp>
        <p:nvSpPr>
          <p:cNvPr id="6" name="Shape 4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7" name="Shape 5"/>
          <p:cNvSpPr/>
          <p:nvPr/>
        </p:nvSpPr>
        <p:spPr>
          <a:xfrm>
            <a:off x="8127797" y="6729984"/>
            <a:ext cx="4063898" cy="128016"/>
          </a:xfrm>
          <a:prstGeom prst="rect">
            <a:avLst/>
          </a:prstGeom>
          <a:solidFill>
            <a:srgbClr val="C81E2C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210312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</a:t>
            </a:r>
            <a:endParaRPr lang="en-US" sz="6600" dirty="0"/>
          </a:p>
        </p:txBody>
      </p:sp>
      <p:sp>
        <p:nvSpPr>
          <p:cNvPr id="9" name="Shape 7"/>
          <p:cNvSpPr/>
          <p:nvPr/>
        </p:nvSpPr>
        <p:spPr>
          <a:xfrm>
            <a:off x="4998568" y="3566160"/>
            <a:ext cx="219456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84048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7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Réponses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ÉCOLE — Projet de Digitalisation des Processus Métiers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D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août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ESA ÉCOLE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 Digitalisation des Processus Métiers</dc:title>
  <dc:subject>PptxGenJS Presentation</dc:subject>
  <dc:creator>ESA ÉCOLE</dc:creator>
  <cp:lastModifiedBy>ESA ÉCOLE</cp:lastModifiedBy>
  <cp:revision>1</cp:revision>
  <dcterms:created xsi:type="dcterms:W3CDTF">2026-08-01T02:05:32Z</dcterms:created>
  <dcterms:modified xsi:type="dcterms:W3CDTF">2026-08-01T02:05:32Z</dcterms:modified>
</cp:coreProperties>
</file>